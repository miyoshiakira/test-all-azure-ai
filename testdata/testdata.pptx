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6858000" cx="12192000"/>
  <p:notesSz cx="6858000" cy="9144000"/>
  <p:embeddedFontLst>
    <p:embeddedFont>
      <p:font typeface="Poppins"/>
      <p:regular r:id="rId27"/>
      <p:bold r:id="rId28"/>
      <p:italic r:id="rId29"/>
      <p:boldItalic r:id="rId30"/>
    </p:embeddedFont>
    <p:embeddedFont>
      <p:font typeface="Open Sans SemiBold"/>
      <p:regular r:id="rId31"/>
      <p:bold r:id="rId32"/>
      <p:italic r:id="rId33"/>
      <p:boldItalic r:id="rId34"/>
    </p:embeddedFont>
    <p:embeddedFont>
      <p:font typeface="Open Sans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2BC14D2-C404-4F84-8C3D-8F9F12108490}">
  <a:tblStyle styleId="{C2BC14D2-C404-4F84-8C3D-8F9F1210849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Poppins-bold.fntdata"/><Relationship Id="rId27" Type="http://schemas.openxmlformats.org/officeDocument/2006/relationships/font" Target="fonts/Poppins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SemiBold-regular.fntdata"/><Relationship Id="rId30" Type="http://schemas.openxmlformats.org/officeDocument/2006/relationships/font" Target="fonts/Poppins-boldItalic.fntdata"/><Relationship Id="rId11" Type="http://schemas.openxmlformats.org/officeDocument/2006/relationships/slide" Target="slides/slide5.xml"/><Relationship Id="rId33" Type="http://schemas.openxmlformats.org/officeDocument/2006/relationships/font" Target="fonts/OpenSansSemiBold-italic.fntdata"/><Relationship Id="rId10" Type="http://schemas.openxmlformats.org/officeDocument/2006/relationships/slide" Target="slides/slide4.xml"/><Relationship Id="rId32" Type="http://schemas.openxmlformats.org/officeDocument/2006/relationships/font" Target="fonts/OpenSansSemiBold-bold.fntdata"/><Relationship Id="rId13" Type="http://schemas.openxmlformats.org/officeDocument/2006/relationships/slide" Target="slides/slide7.xml"/><Relationship Id="rId35" Type="http://schemas.openxmlformats.org/officeDocument/2006/relationships/font" Target="fonts/OpenSans-regular.fntdata"/><Relationship Id="rId12" Type="http://schemas.openxmlformats.org/officeDocument/2006/relationships/slide" Target="slides/slide6.xml"/><Relationship Id="rId34" Type="http://schemas.openxmlformats.org/officeDocument/2006/relationships/font" Target="fonts/OpenSansSemiBold-boldItalic.fntdata"/><Relationship Id="rId15" Type="http://schemas.openxmlformats.org/officeDocument/2006/relationships/slide" Target="slides/slide9.xml"/><Relationship Id="rId37" Type="http://schemas.openxmlformats.org/officeDocument/2006/relationships/font" Target="fonts/OpenSans-italic.fntdata"/><Relationship Id="rId14" Type="http://schemas.openxmlformats.org/officeDocument/2006/relationships/slide" Target="slides/slide8.xml"/><Relationship Id="rId36" Type="http://schemas.openxmlformats.org/officeDocument/2006/relationships/font" Target="fonts/OpenSans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schemas.openxmlformats.org/officeDocument/2006/relationships/font" Target="fonts/OpenSans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dc8ac837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bdc8ac8379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dc8ac8379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bdc8ac8379_0_1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bdc8ac8379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bdc8ac8379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bdc8ac8379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bdc8ac8379_0_1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bdc8ac8379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bdc8ac8379_0_1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bdc8ac8379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bdc8ac8379_0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bdc8ac8379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bdc8ac8379_0_1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bdc8ac8379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g3bdc8ac8379_0_1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9.png"/><Relationship Id="rId7" Type="http://schemas.openxmlformats.org/officeDocument/2006/relationships/image" Target="../media/image50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Relationship Id="rId4" Type="http://schemas.openxmlformats.org/officeDocument/2006/relationships/image" Target="../media/image26.png"/><Relationship Id="rId5" Type="http://schemas.openxmlformats.org/officeDocument/2006/relationships/image" Target="../media/image18.png"/><Relationship Id="rId6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28.png"/><Relationship Id="rId5" Type="http://schemas.openxmlformats.org/officeDocument/2006/relationships/image" Target="../media/image27.png"/><Relationship Id="rId6" Type="http://schemas.openxmlformats.org/officeDocument/2006/relationships/image" Target="../media/image20.png"/><Relationship Id="rId7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2.png"/><Relationship Id="rId4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Relationship Id="rId4" Type="http://schemas.openxmlformats.org/officeDocument/2006/relationships/image" Target="../media/image29.png"/><Relationship Id="rId5" Type="http://schemas.openxmlformats.org/officeDocument/2006/relationships/image" Target="../media/image2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0.png"/><Relationship Id="rId4" Type="http://schemas.openxmlformats.org/officeDocument/2006/relationships/image" Target="../media/image34.png"/><Relationship Id="rId5" Type="http://schemas.openxmlformats.org/officeDocument/2006/relationships/image" Target="../media/image3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3.png"/><Relationship Id="rId4" Type="http://schemas.openxmlformats.org/officeDocument/2006/relationships/image" Target="../media/image3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1.png"/><Relationship Id="rId4" Type="http://schemas.openxmlformats.org/officeDocument/2006/relationships/image" Target="../media/image35.png"/><Relationship Id="rId5" Type="http://schemas.openxmlformats.org/officeDocument/2006/relationships/image" Target="../media/image42.png"/><Relationship Id="rId6" Type="http://schemas.openxmlformats.org/officeDocument/2006/relationships/image" Target="../media/image40.png"/><Relationship Id="rId7" Type="http://schemas.openxmlformats.org/officeDocument/2006/relationships/image" Target="../media/image38.png"/><Relationship Id="rId8" Type="http://schemas.openxmlformats.org/officeDocument/2006/relationships/image" Target="../media/image3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6.png"/><Relationship Id="rId4" Type="http://schemas.openxmlformats.org/officeDocument/2006/relationships/image" Target="../media/image41.png"/><Relationship Id="rId5" Type="http://schemas.openxmlformats.org/officeDocument/2006/relationships/image" Target="../media/image49.png"/><Relationship Id="rId6" Type="http://schemas.openxmlformats.org/officeDocument/2006/relationships/image" Target="../media/image4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5.png"/><Relationship Id="rId4" Type="http://schemas.openxmlformats.org/officeDocument/2006/relationships/image" Target="../media/image52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51.png"/><Relationship Id="rId8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0" y="-1905000"/>
            <a:ext cx="5715000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905000" y="3048000"/>
            <a:ext cx="5715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71500" y="5133826"/>
            <a:ext cx="11049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Open Sans"/>
                <a:ea typeface="Open Sans"/>
                <a:cs typeface="Open Sans"/>
                <a:sym typeface="Open Sans"/>
              </a:rPr>
              <a:t>Presenter: 三好 智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1666875"/>
            <a:ext cx="110490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818CF8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AI × IT で多種多様な業務自動化！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95275" y="2474565"/>
            <a:ext cx="11601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2026年最新のAI事情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4017615"/>
            <a:ext cx="110490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士業と経営者のためのAI戦略プレゼンテーション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/>
        </p:nvSpPr>
        <p:spPr>
          <a:xfrm>
            <a:off x="59055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プロフィール</a:t>
            </a:r>
            <a:endParaRPr/>
          </a:p>
        </p:txBody>
      </p:sp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550" y="2490803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550" y="339925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550" y="4307697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0550" y="5216144"/>
            <a:ext cx="20002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8830325" y="5833575"/>
            <a:ext cx="132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三好 智</a:t>
            </a:r>
            <a:endParaRPr b="1" sz="3000">
              <a:solidFill>
                <a:srgbClr val="22D3E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590550" y="1903230"/>
            <a:ext cx="5238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現役フルスタックエンジニア / AI開発者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066800" y="2447941"/>
            <a:ext cx="47625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21歳でプログラミング独学</a:t>
            </a:r>
            <a:r>
              <a:rPr lang="en-US" sz="1650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開始</a:t>
            </a:r>
            <a:r>
              <a:rPr b="0" i="0" lang="en-US" sz="1650" u="none" cap="none" strike="noStrike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。</a:t>
            </a:r>
            <a:endParaRPr b="0" i="0" sz="1650" u="none" cap="none" strike="noStrike">
              <a:solidFill>
                <a:srgbClr val="F8FAF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中小企業→</a:t>
            </a:r>
            <a:r>
              <a:rPr b="0" i="0" lang="en-US" sz="1650" u="none" cap="none" strike="noStrike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大手企業</a:t>
            </a:r>
            <a:r>
              <a:rPr lang="en-US" sz="1650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へ転職して現在。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066800" y="3356388"/>
            <a:ext cx="4762500" cy="6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ヒアリングからアプリ</a:t>
            </a:r>
            <a:r>
              <a:rPr lang="en-US" sz="1650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改修・リリース</a:t>
            </a:r>
            <a:r>
              <a:rPr b="0" i="0" lang="en-US" sz="1650" u="none" cap="none" strike="noStrike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までを一貫して担当</a:t>
            </a:r>
            <a:r>
              <a:rPr lang="en-US" sz="1650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する</a:t>
            </a:r>
            <a:r>
              <a:rPr b="1" lang="en-US" sz="1750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フルスタックエンジニア</a:t>
            </a:r>
            <a:endParaRPr b="1" sz="1500"/>
          </a:p>
        </p:txBody>
      </p:sp>
      <p:sp>
        <p:nvSpPr>
          <p:cNvPr id="103" name="Google Shape;103;p14"/>
          <p:cNvSpPr txBox="1"/>
          <p:nvPr/>
        </p:nvSpPr>
        <p:spPr>
          <a:xfrm>
            <a:off x="1066800" y="4264835"/>
            <a:ext cx="47625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AI</a:t>
            </a:r>
            <a:r>
              <a:rPr lang="en-US" sz="1650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やIT関連のプロダクト開発からクラウドやサーバー管理まで。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066800" y="5173282"/>
            <a:ext cx="47625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多種多様な受託開発により、ITでの業務課題解決を支援</a:t>
            </a:r>
            <a:endParaRPr/>
          </a:p>
        </p:txBody>
      </p:sp>
      <p:pic>
        <p:nvPicPr>
          <p:cNvPr id="105" name="Google Shape;105;p14" title="自撮りProfile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25725" y="1125598"/>
            <a:ext cx="3334900" cy="4445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499" y="1985225"/>
            <a:ext cx="11601600" cy="3817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474" y="2251218"/>
            <a:ext cx="5334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今回の目的 （目次）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3579001" y="2235775"/>
            <a:ext cx="50340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5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士業者様と経営者様へ</a:t>
            </a:r>
            <a:endParaRPr sz="2500"/>
          </a:p>
        </p:txBody>
      </p:sp>
      <p:sp>
        <p:nvSpPr>
          <p:cNvPr id="114" name="Google Shape;114;p15"/>
          <p:cNvSpPr txBox="1"/>
          <p:nvPr/>
        </p:nvSpPr>
        <p:spPr>
          <a:xfrm>
            <a:off x="955475" y="3098825"/>
            <a:ext cx="9771600" cy="20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50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①2</a:t>
            </a:r>
            <a:r>
              <a:rPr lang="en-US" sz="2350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026年 AIの現在・・・AIの最新情報をお届けします</a:t>
            </a:r>
            <a:endParaRPr sz="2350">
              <a:solidFill>
                <a:srgbClr val="F8FAF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50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②AI体験してみよう・・・実際にAIに触れ合って体験します</a:t>
            </a:r>
            <a:endParaRPr sz="2350">
              <a:solidFill>
                <a:srgbClr val="F8FAF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50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③企業と業務のAI化・・・具体例を説明します</a:t>
            </a:r>
            <a:endParaRPr sz="2350">
              <a:solidFill>
                <a:srgbClr val="F8FAF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50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④フリートーク・質問コーナー・・・AIやITの質問を受け付けます</a:t>
            </a:r>
            <a:endParaRPr sz="2350">
              <a:solidFill>
                <a:srgbClr val="F8FAF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8518624" y="3861643"/>
            <a:ext cx="2711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0" y="-1905000"/>
            <a:ext cx="5715000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905000" y="3048000"/>
            <a:ext cx="5715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295200" y="2967290"/>
            <a:ext cx="1160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600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2026年 AIの現在</a:t>
            </a:r>
            <a:endParaRPr b="1" sz="6000">
              <a:solidFill>
                <a:srgbClr val="F8FAF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225350" y="627315"/>
            <a:ext cx="11601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第一章</a:t>
            </a:r>
            <a:endParaRPr b="1" sz="4500">
              <a:solidFill>
                <a:srgbClr val="F8FAF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448632"/>
            <a:ext cx="110490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25" y="2082105"/>
            <a:ext cx="2430660" cy="27711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44180" y="2082105"/>
            <a:ext cx="2430660" cy="27711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6873" y="2082105"/>
            <a:ext cx="2430660" cy="27711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88091" y="2043418"/>
            <a:ext cx="2430660" cy="277117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/>
          <p:nvPr/>
        </p:nvSpPr>
        <p:spPr>
          <a:xfrm>
            <a:off x="2573530" y="227582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22D3EE"/>
          </a:solidFill>
          <a:ln cap="flat" cmpd="sng" w="381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5449185" y="227582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22D3EE"/>
          </a:solidFill>
          <a:ln cap="flat" cmpd="sng" w="381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8324816" y="227582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22D3EE"/>
          </a:solidFill>
          <a:ln cap="flat" cmpd="sng" w="381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571550" y="555325"/>
            <a:ext cx="2430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技術の進化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771550" y="2282130"/>
            <a:ext cx="21321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1995年以前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771550" y="2767905"/>
            <a:ext cx="2030700" cy="17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アナログ時代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 データ管理は手書き。属人的な手作業ベースの業務が主流。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3644205" y="2282130"/>
            <a:ext cx="21321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1996年〜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3644168" y="2767905"/>
            <a:ext cx="2030700" cy="17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ITの普及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 アプリによるデータ入出力。業務フローが電子化され効率化。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6516899" y="2282125"/>
            <a:ext cx="1557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2023年〜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6466148" y="2743218"/>
            <a:ext cx="20307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AIの普及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 生成AI登場。データの入出力そのものをAIが肩代わり。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9488123" y="2243450"/>
            <a:ext cx="17565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2026年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9488066" y="2676618"/>
            <a:ext cx="2030700" cy="17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AIエージェント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 「考える」だけでなく、ツールを操作し「完結」させる存在へ。</a:t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11200466" y="2237158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22D3EE"/>
          </a:solidFill>
          <a:ln cap="flat" cmpd="sng" w="381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771500" y="5217075"/>
            <a:ext cx="1690200" cy="9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・パンチカード</a:t>
            </a:r>
            <a:endParaRPr b="1" sz="1650">
              <a:solidFill>
                <a:srgbClr val="F8FAF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・紙資料</a:t>
            </a:r>
            <a:endParaRPr b="1" sz="1650">
              <a:solidFill>
                <a:srgbClr val="F8FAF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・人の記憶</a:t>
            </a:r>
            <a:endParaRPr b="1" sz="1650">
              <a:solidFill>
                <a:srgbClr val="F8FAF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3814413" y="5217075"/>
            <a:ext cx="1690200" cy="9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・Web</a:t>
            </a:r>
            <a:r>
              <a:rPr b="1" lang="en-US" sz="1650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サイト</a:t>
            </a:r>
            <a:endParaRPr b="1" sz="1650">
              <a:solidFill>
                <a:srgbClr val="F8FAF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・</a:t>
            </a:r>
            <a:r>
              <a:rPr b="1" lang="en-US" sz="1650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スマホアプリ</a:t>
            </a:r>
            <a:endParaRPr b="1" sz="1650">
              <a:solidFill>
                <a:srgbClr val="F8FAF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・</a:t>
            </a:r>
            <a:r>
              <a:rPr b="1" lang="en-US" sz="1650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PCツール</a:t>
            </a:r>
            <a:endParaRPr b="1" sz="1650">
              <a:solidFill>
                <a:srgbClr val="F8FAF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6636388" y="5217075"/>
            <a:ext cx="1690200" cy="9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・ChatGPT</a:t>
            </a:r>
            <a:endParaRPr b="1" sz="1650">
              <a:solidFill>
                <a:srgbClr val="F8FAF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・Gemini</a:t>
            </a:r>
            <a:endParaRPr b="1" sz="1650">
              <a:solidFill>
                <a:srgbClr val="F8FAF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・Claude</a:t>
            </a:r>
            <a:endParaRPr b="1" sz="1650">
              <a:solidFill>
                <a:srgbClr val="F8FAF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9" name="Google Shape;149;p17"/>
          <p:cNvSpPr txBox="1"/>
          <p:nvPr/>
        </p:nvSpPr>
        <p:spPr>
          <a:xfrm>
            <a:off x="9488129" y="5403375"/>
            <a:ext cx="2132100" cy="6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・Claude Code</a:t>
            </a:r>
            <a:endParaRPr b="1" sz="1650">
              <a:solidFill>
                <a:srgbClr val="F8FAF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・</a:t>
            </a:r>
            <a:r>
              <a:rPr b="1" lang="en-US" sz="1650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独自</a:t>
            </a:r>
            <a:r>
              <a:rPr b="1" lang="en-US" sz="1650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AI</a:t>
            </a:r>
            <a:r>
              <a:rPr b="1" lang="en-US" sz="1650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カスタマイズ</a:t>
            </a:r>
            <a:endParaRPr b="1" sz="1650">
              <a:solidFill>
                <a:srgbClr val="F8FAF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880443"/>
            <a:ext cx="5238750" cy="40266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2025" y="2356693"/>
            <a:ext cx="3619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IT </a:t>
            </a:r>
            <a:r>
              <a:rPr b="1" lang="en-US" sz="3600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と</a:t>
            </a:r>
            <a:r>
              <a:rPr b="1" i="0" lang="en-US" sz="3600" u="none" cap="none" strike="noStrik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 AI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962025" y="3109168"/>
            <a:ext cx="4680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IT</a:t>
            </a:r>
            <a:r>
              <a:rPr b="1" lang="en-US" sz="225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・・・簡素な計算ツール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962025" y="3756868"/>
            <a:ext cx="44577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決められたルール通りに、超高速で処理を実行。人間が「どう動くか」を指示する道具。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962025" y="4636740"/>
            <a:ext cx="44577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2D3EE"/>
                </a:solidFill>
                <a:latin typeface="Open Sans"/>
                <a:ea typeface="Open Sans"/>
                <a:cs typeface="Open Sans"/>
                <a:sym typeface="Open Sans"/>
              </a:rPr>
              <a:t>例：Excel、自社専用業務アプリ</a:t>
            </a:r>
            <a:endParaRPr/>
          </a:p>
        </p:txBody>
      </p:sp>
      <p:grpSp>
        <p:nvGrpSpPr>
          <p:cNvPr id="160" name="Google Shape;160;p18"/>
          <p:cNvGrpSpPr/>
          <p:nvPr/>
        </p:nvGrpSpPr>
        <p:grpSpPr>
          <a:xfrm>
            <a:off x="6381750" y="1880443"/>
            <a:ext cx="5238750" cy="4026693"/>
            <a:chOff x="6381750" y="1880443"/>
            <a:chExt cx="5238750" cy="4026693"/>
          </a:xfrm>
        </p:grpSpPr>
        <p:pic>
          <p:nvPicPr>
            <p:cNvPr descr="image.png" id="161" name="Google Shape;161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381750" y="1880443"/>
              <a:ext cx="5238750" cy="40266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162" name="Google Shape;162;p1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772275" y="2356693"/>
              <a:ext cx="476250" cy="47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" name="Google Shape;163;p18"/>
            <p:cNvSpPr txBox="1"/>
            <p:nvPr/>
          </p:nvSpPr>
          <p:spPr>
            <a:xfrm>
              <a:off x="6772275" y="3109168"/>
              <a:ext cx="4680600" cy="34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250" u="none" cap="none" strike="noStrike">
                  <a:solidFill>
                    <a:srgbClr val="F8FAFC"/>
                  </a:solidFill>
                  <a:latin typeface="Poppins"/>
                  <a:ea typeface="Poppins"/>
                  <a:cs typeface="Poppins"/>
                  <a:sym typeface="Poppins"/>
                </a:rPr>
                <a:t>AI</a:t>
              </a:r>
              <a:r>
                <a:rPr b="1" lang="en-US" sz="2250">
                  <a:solidFill>
                    <a:srgbClr val="F8FAFC"/>
                  </a:solidFill>
                  <a:latin typeface="Poppins"/>
                  <a:ea typeface="Poppins"/>
                  <a:cs typeface="Poppins"/>
                  <a:sym typeface="Poppins"/>
                </a:rPr>
                <a:t>・・・答えてくれる先生</a:t>
              </a:r>
              <a:endParaRPr/>
            </a:p>
          </p:txBody>
        </p:sp>
        <p:sp>
          <p:nvSpPr>
            <p:cNvPr id="164" name="Google Shape;164;p18"/>
            <p:cNvSpPr txBox="1"/>
            <p:nvPr/>
          </p:nvSpPr>
          <p:spPr>
            <a:xfrm>
              <a:off x="6772275" y="3756868"/>
              <a:ext cx="4457700" cy="66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50" u="none" cap="none" strike="noStrike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膨大なデータから「次に来る確率が高いもの」を予測。受動的だが自ら判断し生成する。</a:t>
              </a:r>
              <a:endParaRPr/>
            </a:p>
          </p:txBody>
        </p:sp>
        <p:sp>
          <p:nvSpPr>
            <p:cNvPr id="165" name="Google Shape;165;p18"/>
            <p:cNvSpPr txBox="1"/>
            <p:nvPr/>
          </p:nvSpPr>
          <p:spPr>
            <a:xfrm>
              <a:off x="6772275" y="4971901"/>
              <a:ext cx="44577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50" u="none" cap="none" strike="noStrike">
                  <a:solidFill>
                    <a:srgbClr val="818CF8"/>
                  </a:solidFill>
                  <a:latin typeface="Open Sans"/>
                  <a:ea typeface="Open Sans"/>
                  <a:cs typeface="Open Sans"/>
                  <a:sym typeface="Open Sans"/>
                </a:rPr>
                <a:t>例：ChatGPT, Gemini, Claude</a:t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AIエージェント</a:t>
            </a:r>
            <a:endParaRPr/>
          </a:p>
        </p:txBody>
      </p:sp>
      <p:pic>
        <p:nvPicPr>
          <p:cNvPr descr="image.png" id="171" name="Google Shape;17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7738" y="1324825"/>
            <a:ext cx="10996525" cy="2840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8263" y="1801068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 txBox="1"/>
          <p:nvPr/>
        </p:nvSpPr>
        <p:spPr>
          <a:xfrm>
            <a:off x="988263" y="2553550"/>
            <a:ext cx="8616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AI</a:t>
            </a:r>
            <a:r>
              <a:rPr b="1" lang="en-US" sz="225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エージェント</a:t>
            </a:r>
            <a:r>
              <a:rPr b="1" lang="en-US" sz="225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・・・</a:t>
            </a:r>
            <a:r>
              <a:rPr b="1" lang="en-US" sz="225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自分で考えて動く会社員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988263" y="3201250"/>
            <a:ext cx="8697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膨大なデータから</a:t>
            </a:r>
            <a:r>
              <a:rPr lang="en-US" sz="1650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命令を理解。</a:t>
            </a:r>
            <a:r>
              <a:rPr b="0" i="0" lang="en-US" sz="1650" u="none" cap="none" strike="noStrike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自ら判断し</a:t>
            </a:r>
            <a:r>
              <a:rPr lang="en-US" sz="1650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て既存システムを操作してフローを完結させる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988263" y="3654276"/>
            <a:ext cx="4457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818CF8"/>
                </a:solidFill>
                <a:latin typeface="Open Sans"/>
                <a:ea typeface="Open Sans"/>
                <a:cs typeface="Open Sans"/>
                <a:sym typeface="Open Sans"/>
              </a:rPr>
              <a:t>例：Claude Code </a:t>
            </a:r>
            <a:r>
              <a:rPr b="1" lang="en-US" sz="1650">
                <a:solidFill>
                  <a:srgbClr val="818CF8"/>
                </a:solidFill>
                <a:latin typeface="Open Sans"/>
                <a:ea typeface="Open Sans"/>
                <a:cs typeface="Open Sans"/>
                <a:sym typeface="Open Sans"/>
              </a:rPr>
              <a:t>など</a:t>
            </a:r>
            <a:endParaRPr/>
          </a:p>
        </p:txBody>
      </p:sp>
      <p:pic>
        <p:nvPicPr>
          <p:cNvPr descr="image.png" id="176" name="Google Shape;17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7750" y="4474525"/>
            <a:ext cx="10996525" cy="194532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988277" y="4662900"/>
            <a:ext cx="103371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【</a:t>
            </a:r>
            <a:r>
              <a:rPr lang="en-US" sz="225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重要なワード</a:t>
            </a:r>
            <a:r>
              <a:rPr lang="en-US" sz="225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】</a:t>
            </a:r>
            <a:endParaRPr sz="2250">
              <a:solidFill>
                <a:srgbClr val="F8FAF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・AIエージェントは会社員。</a:t>
            </a:r>
            <a:endParaRPr sz="2250">
              <a:solidFill>
                <a:srgbClr val="F8FAF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・AIエージェントは極稀にミスをする。</a:t>
            </a:r>
            <a:r>
              <a:rPr lang="en-US" sz="225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計算機はミスしない。</a:t>
            </a:r>
            <a:endParaRPr sz="2250">
              <a:solidFill>
                <a:srgbClr val="F8FAF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・</a:t>
            </a:r>
            <a:r>
              <a:rPr lang="en-US" sz="225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AIエージェント、</a:t>
            </a:r>
            <a:r>
              <a:rPr lang="en-US" sz="225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大企業ではもう導入済み。</a:t>
            </a:r>
            <a:endParaRPr sz="2250">
              <a:solidFill>
                <a:srgbClr val="F8FAF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0" y="-1905000"/>
            <a:ext cx="5715000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905000" y="3048000"/>
            <a:ext cx="5715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295200" y="2967290"/>
            <a:ext cx="1160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600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AI体験してみよう</a:t>
            </a:r>
            <a:endParaRPr b="1" sz="6000">
              <a:solidFill>
                <a:srgbClr val="F8FAF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225350" y="627315"/>
            <a:ext cx="11601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第</a:t>
            </a:r>
            <a:r>
              <a:rPr b="1" lang="en-US" sz="450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二</a:t>
            </a:r>
            <a:r>
              <a:rPr b="1" lang="en-US" sz="450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章</a:t>
            </a:r>
            <a:endParaRPr b="1" sz="4500">
              <a:solidFill>
                <a:srgbClr val="F8FAF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最新AIデモ：検索から「意味理解」へ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571500" y="7002363"/>
            <a:ext cx="11049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例：「暖かい」と検索 → 気温だけでなく「服」や「飲み物」を考慮して回答を生成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962025" y="4463355"/>
            <a:ext cx="4830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① AI体験モック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962025" y="5111050"/>
            <a:ext cx="4830600" cy="6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各業界のAI利用を体験可能なデモページ。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65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https://miyoshiakira.github.io/test-ai-mock/</a:t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6629400" y="4463355"/>
            <a:ext cx="4830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② </a:t>
            </a:r>
            <a:r>
              <a:rPr b="1" lang="en-US" sz="22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三好智AI</a:t>
            </a:r>
            <a:r>
              <a:rPr b="1" i="0" lang="en-US" sz="225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チャット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6629400" y="5111055"/>
            <a:ext cx="4600500" cy="9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キーワードではなく「文脈」を理解するチャット。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65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https://miyoshilangchain.web.app/</a:t>
            </a:r>
            <a:endParaRPr b="1" u="sng">
              <a:solidFill>
                <a:schemeClr val="dk1"/>
              </a:solidFill>
            </a:endParaRPr>
          </a:p>
        </p:txBody>
      </p:sp>
      <p:pic>
        <p:nvPicPr>
          <p:cNvPr id="196" name="Google Shape;196;p21" title="DEMO_Q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8350" y="2086850"/>
            <a:ext cx="2057400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97950" y="2086863"/>
            <a:ext cx="2057400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97675" y="2222313"/>
            <a:ext cx="2057400" cy="1786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47750" y="2402175"/>
            <a:ext cx="2176626" cy="1443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4" name="Google Shape;20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0" y="-1905000"/>
            <a:ext cx="5715000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905000" y="3048000"/>
            <a:ext cx="5715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2"/>
          <p:cNvSpPr txBox="1"/>
          <p:nvPr/>
        </p:nvSpPr>
        <p:spPr>
          <a:xfrm>
            <a:off x="295200" y="2967290"/>
            <a:ext cx="1160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企業と業務のAI化</a:t>
            </a:r>
            <a:endParaRPr b="1" sz="6000">
              <a:solidFill>
                <a:srgbClr val="F8FAF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7" name="Google Shape;207;p22"/>
          <p:cNvSpPr txBox="1"/>
          <p:nvPr/>
        </p:nvSpPr>
        <p:spPr>
          <a:xfrm>
            <a:off x="225350" y="627315"/>
            <a:ext cx="11601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第</a:t>
            </a:r>
            <a:r>
              <a:rPr b="1" lang="en-US" sz="450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三</a:t>
            </a:r>
            <a:r>
              <a:rPr b="1" lang="en-US" sz="450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章</a:t>
            </a:r>
            <a:endParaRPr b="1" sz="4500">
              <a:solidFill>
                <a:srgbClr val="F8FAF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3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AIエージェント</a:t>
            </a:r>
            <a:r>
              <a:rPr b="1" lang="en-US" sz="3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を企業はどう使うのか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213" name="Google Shape;213;p23"/>
          <p:cNvGrpSpPr/>
          <p:nvPr/>
        </p:nvGrpSpPr>
        <p:grpSpPr>
          <a:xfrm>
            <a:off x="571500" y="4498875"/>
            <a:ext cx="1498575" cy="1877337"/>
            <a:chOff x="860475" y="1125588"/>
            <a:chExt cx="1498575" cy="1877337"/>
          </a:xfrm>
        </p:grpSpPr>
        <p:pic>
          <p:nvPicPr>
            <p:cNvPr descr="image.png" id="214" name="Google Shape;214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60475" y="2448825"/>
              <a:ext cx="1498575" cy="554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5" name="Google Shape;215;p23"/>
            <p:cNvSpPr txBox="1"/>
            <p:nvPr/>
          </p:nvSpPr>
          <p:spPr>
            <a:xfrm>
              <a:off x="953950" y="2552775"/>
              <a:ext cx="1311600" cy="34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50">
                  <a:solidFill>
                    <a:srgbClr val="F8FAFC"/>
                  </a:solidFill>
                  <a:latin typeface="Poppins"/>
                  <a:ea typeface="Poppins"/>
                  <a:cs typeface="Poppins"/>
                  <a:sym typeface="Poppins"/>
                </a:rPr>
                <a:t>ユーザー</a:t>
              </a:r>
              <a:endParaRPr/>
            </a:p>
          </p:txBody>
        </p:sp>
        <p:pic>
          <p:nvPicPr>
            <p:cNvPr descr="図形&#10;&#10;低い精度で自動的に生成された説明" id="216" name="Google Shape;216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3973" y="1125588"/>
              <a:ext cx="1371600" cy="1371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7" name="Google Shape;217;p23"/>
          <p:cNvGrpSpPr/>
          <p:nvPr/>
        </p:nvGrpSpPr>
        <p:grpSpPr>
          <a:xfrm>
            <a:off x="8008153" y="4474704"/>
            <a:ext cx="2466955" cy="1925696"/>
            <a:chOff x="8132778" y="4450529"/>
            <a:chExt cx="2466955" cy="1925696"/>
          </a:xfrm>
        </p:grpSpPr>
        <p:grpSp>
          <p:nvGrpSpPr>
            <p:cNvPr id="218" name="Google Shape;218;p23"/>
            <p:cNvGrpSpPr/>
            <p:nvPr/>
          </p:nvGrpSpPr>
          <p:grpSpPr>
            <a:xfrm>
              <a:off x="8132778" y="5822125"/>
              <a:ext cx="2466955" cy="554100"/>
              <a:chOff x="860475" y="2448825"/>
              <a:chExt cx="1498575" cy="554100"/>
            </a:xfrm>
          </p:grpSpPr>
          <p:pic>
            <p:nvPicPr>
              <p:cNvPr descr="image.png" id="219" name="Google Shape;219;p2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60475" y="2448825"/>
                <a:ext cx="1498575" cy="5541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0" name="Google Shape;220;p23"/>
              <p:cNvSpPr txBox="1"/>
              <p:nvPr/>
            </p:nvSpPr>
            <p:spPr>
              <a:xfrm>
                <a:off x="953950" y="2552775"/>
                <a:ext cx="1311600" cy="34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250">
                    <a:solidFill>
                      <a:srgbClr val="F8FAFC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AIエージェント</a:t>
                </a:r>
                <a:endParaRPr/>
              </a:p>
            </p:txBody>
          </p:sp>
        </p:grpSp>
        <p:pic>
          <p:nvPicPr>
            <p:cNvPr descr="図形&#10;&#10;低い精度で自動的に生成された説明" id="221" name="Google Shape;221;p2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680457" y="4450529"/>
              <a:ext cx="1371600" cy="1371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2" name="Google Shape;222;p23"/>
          <p:cNvGrpSpPr/>
          <p:nvPr/>
        </p:nvGrpSpPr>
        <p:grpSpPr>
          <a:xfrm>
            <a:off x="4289825" y="4474704"/>
            <a:ext cx="1498575" cy="1925684"/>
            <a:chOff x="4470400" y="4642254"/>
            <a:chExt cx="1498575" cy="1925684"/>
          </a:xfrm>
        </p:grpSpPr>
        <p:pic>
          <p:nvPicPr>
            <p:cNvPr descr="図形&#10;&#10;低い精度で自動的に生成された説明" id="223" name="Google Shape;223;p2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533898" y="4642254"/>
              <a:ext cx="1371600" cy="13716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24" name="Google Shape;224;p23"/>
            <p:cNvGrpSpPr/>
            <p:nvPr/>
          </p:nvGrpSpPr>
          <p:grpSpPr>
            <a:xfrm>
              <a:off x="4470400" y="6013838"/>
              <a:ext cx="1498575" cy="554100"/>
              <a:chOff x="860475" y="2448825"/>
              <a:chExt cx="1498575" cy="554100"/>
            </a:xfrm>
          </p:grpSpPr>
          <p:pic>
            <p:nvPicPr>
              <p:cNvPr descr="image.png" id="225" name="Google Shape;225;p2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60475" y="2448825"/>
                <a:ext cx="1498575" cy="5541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6" name="Google Shape;226;p23"/>
              <p:cNvSpPr txBox="1"/>
              <p:nvPr/>
            </p:nvSpPr>
            <p:spPr>
              <a:xfrm>
                <a:off x="953950" y="2552775"/>
                <a:ext cx="1311600" cy="34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250">
                    <a:solidFill>
                      <a:srgbClr val="F8FAFC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システム</a:t>
                </a:r>
                <a:endParaRPr/>
              </a:p>
            </p:txBody>
          </p:sp>
        </p:grpSp>
      </p:grpSp>
      <p:sp>
        <p:nvSpPr>
          <p:cNvPr id="227" name="Google Shape;227;p23"/>
          <p:cNvSpPr/>
          <p:nvPr/>
        </p:nvSpPr>
        <p:spPr>
          <a:xfrm>
            <a:off x="2641000" y="4956175"/>
            <a:ext cx="1077900" cy="554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要望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3"/>
          <p:cNvSpPr/>
          <p:nvPr/>
        </p:nvSpPr>
        <p:spPr>
          <a:xfrm>
            <a:off x="6465875" y="4956175"/>
            <a:ext cx="1077900" cy="554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　依頼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3"/>
          <p:cNvSpPr/>
          <p:nvPr/>
        </p:nvSpPr>
        <p:spPr>
          <a:xfrm flipH="1">
            <a:off x="6359325" y="5822125"/>
            <a:ext cx="1077900" cy="554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　回答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3"/>
          <p:cNvSpPr/>
          <p:nvPr/>
        </p:nvSpPr>
        <p:spPr>
          <a:xfrm>
            <a:off x="7739525" y="3429000"/>
            <a:ext cx="1077900" cy="10458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連携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3"/>
          <p:cNvSpPr/>
          <p:nvPr/>
        </p:nvSpPr>
        <p:spPr>
          <a:xfrm>
            <a:off x="9863488" y="3429000"/>
            <a:ext cx="1077900" cy="10458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連携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2" name="Google Shape;232;p23"/>
          <p:cNvGrpSpPr/>
          <p:nvPr/>
        </p:nvGrpSpPr>
        <p:grpSpPr>
          <a:xfrm>
            <a:off x="7085948" y="1388593"/>
            <a:ext cx="2061290" cy="1925684"/>
            <a:chOff x="4470400" y="4642254"/>
            <a:chExt cx="1498575" cy="1925684"/>
          </a:xfrm>
        </p:grpSpPr>
        <p:pic>
          <p:nvPicPr>
            <p:cNvPr descr="図形&#10;&#10;低い精度で自動的に生成された説明" id="233" name="Google Shape;233;p2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533898" y="4642254"/>
              <a:ext cx="1371600" cy="13716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34" name="Google Shape;234;p23"/>
            <p:cNvGrpSpPr/>
            <p:nvPr/>
          </p:nvGrpSpPr>
          <p:grpSpPr>
            <a:xfrm>
              <a:off x="4470400" y="6013838"/>
              <a:ext cx="1498575" cy="554100"/>
              <a:chOff x="860475" y="2448825"/>
              <a:chExt cx="1498575" cy="554100"/>
            </a:xfrm>
          </p:grpSpPr>
          <p:pic>
            <p:nvPicPr>
              <p:cNvPr descr="image.png" id="235" name="Google Shape;235;p2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60475" y="2448825"/>
                <a:ext cx="1498575" cy="5541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36" name="Google Shape;236;p23"/>
              <p:cNvSpPr txBox="1"/>
              <p:nvPr/>
            </p:nvSpPr>
            <p:spPr>
              <a:xfrm>
                <a:off x="953950" y="2552775"/>
                <a:ext cx="1311600" cy="34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250">
                    <a:solidFill>
                      <a:srgbClr val="F8FAFC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別</a:t>
                </a:r>
                <a:r>
                  <a:rPr b="1" lang="en-US" sz="2250">
                    <a:solidFill>
                      <a:srgbClr val="F8FAFC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システム</a:t>
                </a:r>
                <a:endParaRPr/>
              </a:p>
            </p:txBody>
          </p:sp>
        </p:grpSp>
      </p:grpSp>
      <p:grpSp>
        <p:nvGrpSpPr>
          <p:cNvPr id="237" name="Google Shape;237;p23"/>
          <p:cNvGrpSpPr/>
          <p:nvPr/>
        </p:nvGrpSpPr>
        <p:grpSpPr>
          <a:xfrm>
            <a:off x="9371791" y="1388563"/>
            <a:ext cx="2061290" cy="1925699"/>
            <a:chOff x="9419416" y="1503301"/>
            <a:chExt cx="2061290" cy="1925699"/>
          </a:xfrm>
        </p:grpSpPr>
        <p:grpSp>
          <p:nvGrpSpPr>
            <p:cNvPr id="238" name="Google Shape;238;p23"/>
            <p:cNvGrpSpPr/>
            <p:nvPr/>
          </p:nvGrpSpPr>
          <p:grpSpPr>
            <a:xfrm>
              <a:off x="9419416" y="2874900"/>
              <a:ext cx="2061290" cy="554100"/>
              <a:chOff x="860475" y="2448825"/>
              <a:chExt cx="1498575" cy="554100"/>
            </a:xfrm>
          </p:grpSpPr>
          <p:pic>
            <p:nvPicPr>
              <p:cNvPr descr="image.png" id="239" name="Google Shape;239;p2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60475" y="2448825"/>
                <a:ext cx="1498575" cy="5541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0" name="Google Shape;240;p23"/>
              <p:cNvSpPr txBox="1"/>
              <p:nvPr/>
            </p:nvSpPr>
            <p:spPr>
              <a:xfrm>
                <a:off x="953950" y="2552775"/>
                <a:ext cx="1311600" cy="34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250">
                    <a:solidFill>
                      <a:srgbClr val="F8FAFC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データベース</a:t>
                </a:r>
                <a:endParaRPr/>
              </a:p>
            </p:txBody>
          </p:sp>
        </p:grpSp>
        <p:pic>
          <p:nvPicPr>
            <p:cNvPr descr="図形&#10;&#10;低い精度で自動的に生成された説明" id="241" name="Google Shape;241;p2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9764264" y="1503301"/>
              <a:ext cx="1371600" cy="1371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2" name="Google Shape;242;p23"/>
          <p:cNvSpPr/>
          <p:nvPr/>
        </p:nvSpPr>
        <p:spPr>
          <a:xfrm flipH="1">
            <a:off x="2641000" y="5822125"/>
            <a:ext cx="1077900" cy="554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　回答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"/>
          <p:cNvSpPr/>
          <p:nvPr/>
        </p:nvSpPr>
        <p:spPr>
          <a:xfrm>
            <a:off x="209550" y="3670300"/>
            <a:ext cx="2061300" cy="721500"/>
          </a:xfrm>
          <a:prstGeom prst="wedgeRoundRectCallout">
            <a:avLst>
              <a:gd fmla="val -12263" name="adj1"/>
              <a:gd fmla="val 66006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予約したいな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3"/>
          <p:cNvSpPr/>
          <p:nvPr/>
        </p:nvSpPr>
        <p:spPr>
          <a:xfrm>
            <a:off x="2336800" y="1708200"/>
            <a:ext cx="4524600" cy="1720800"/>
          </a:xfrm>
          <a:prstGeom prst="wedgeRoundRectCallout">
            <a:avLst>
              <a:gd fmla="val 74128" name="adj1"/>
              <a:gd fmla="val 115685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ユーザーさんは予約したいのか・・・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別システムを使うか。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データも登録してやるか。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よし、これでOK。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4"/>
          <p:cNvSpPr/>
          <p:nvPr/>
        </p:nvSpPr>
        <p:spPr>
          <a:xfrm>
            <a:off x="571500" y="4163317"/>
            <a:ext cx="4953000" cy="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4"/>
          <p:cNvSpPr txBox="1"/>
          <p:nvPr/>
        </p:nvSpPr>
        <p:spPr>
          <a:xfrm>
            <a:off x="571500" y="158750"/>
            <a:ext cx="5200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AIエージェント作ってみた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251" name="Google Shape;25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500" y="863600"/>
            <a:ext cx="4000500" cy="57022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2" name="Google Shape;252;p24"/>
          <p:cNvSpPr/>
          <p:nvPr/>
        </p:nvSpPr>
        <p:spPr>
          <a:xfrm>
            <a:off x="768350" y="4022725"/>
            <a:ext cx="2317800" cy="1587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3" name="Google Shape;25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0275" y="3509363"/>
            <a:ext cx="7315200" cy="305650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4" name="Google Shape;254;p24"/>
          <p:cNvSpPr/>
          <p:nvPr/>
        </p:nvSpPr>
        <p:spPr>
          <a:xfrm>
            <a:off x="8397875" y="4355000"/>
            <a:ext cx="3451200" cy="2133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4"/>
          <p:cNvSpPr txBox="1"/>
          <p:nvPr/>
        </p:nvSpPr>
        <p:spPr>
          <a:xfrm>
            <a:off x="4740275" y="1243050"/>
            <a:ext cx="7451700" cy="16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①AIチャットで予約してとお願いする</a:t>
            </a:r>
            <a:endParaRPr b="1" sz="3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②予約内容がデータベースに登録される</a:t>
            </a:r>
            <a:endParaRPr b="1" sz="3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③登録された内容は別の画面に出せる</a:t>
            </a:r>
            <a:endParaRPr b="1" sz="3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0" name="Google Shape;26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5"/>
          <p:cNvSpPr/>
          <p:nvPr/>
        </p:nvSpPr>
        <p:spPr>
          <a:xfrm>
            <a:off x="571500" y="4163317"/>
            <a:ext cx="49530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2" name="Google Shape;26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24385"/>
            <a:ext cx="180975" cy="1782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506217"/>
            <a:ext cx="180975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5"/>
          <p:cNvSpPr txBox="1"/>
          <p:nvPr/>
        </p:nvSpPr>
        <p:spPr>
          <a:xfrm>
            <a:off x="571425" y="561375"/>
            <a:ext cx="5200800" cy="10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実例①②</a:t>
            </a:r>
            <a:endParaRPr b="1" sz="3200">
              <a:solidFill>
                <a:srgbClr val="22D3E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ソフトバンク &amp; サントリー</a:t>
            </a:r>
            <a:endParaRPr sz="1000"/>
          </a:p>
        </p:txBody>
      </p:sp>
      <p:sp>
        <p:nvSpPr>
          <p:cNvPr id="265" name="Google Shape;265;p25"/>
          <p:cNvSpPr txBox="1"/>
          <p:nvPr/>
        </p:nvSpPr>
        <p:spPr>
          <a:xfrm>
            <a:off x="571500" y="2176760"/>
            <a:ext cx="52006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ソフトバンク</a:t>
            </a:r>
            <a:endParaRPr/>
          </a:p>
        </p:txBody>
      </p:sp>
      <p:sp>
        <p:nvSpPr>
          <p:cNvPr id="266" name="Google Shape;266;p25"/>
          <p:cNvSpPr txBox="1"/>
          <p:nvPr/>
        </p:nvSpPr>
        <p:spPr>
          <a:xfrm>
            <a:off x="571500" y="2662535"/>
            <a:ext cx="49530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音声自律型AIオペレーター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 暗証番号照会や手続きをAIが音声のみで完結。2026年には他社展開を予定。</a:t>
            </a:r>
            <a:endParaRPr/>
          </a:p>
        </p:txBody>
      </p:sp>
      <p:sp>
        <p:nvSpPr>
          <p:cNvPr id="267" name="Google Shape;267;p25"/>
          <p:cNvSpPr txBox="1"/>
          <p:nvPr/>
        </p:nvSpPr>
        <p:spPr>
          <a:xfrm>
            <a:off x="571500" y="4458592"/>
            <a:ext cx="52006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818CF8"/>
                </a:solidFill>
                <a:latin typeface="Poppins"/>
                <a:ea typeface="Poppins"/>
                <a:cs typeface="Poppins"/>
                <a:sym typeface="Poppins"/>
              </a:rPr>
              <a:t>サントリー</a:t>
            </a:r>
            <a:endParaRPr/>
          </a:p>
        </p:txBody>
      </p:sp>
      <p:sp>
        <p:nvSpPr>
          <p:cNvPr id="268" name="Google Shape;268;p25"/>
          <p:cNvSpPr txBox="1"/>
          <p:nvPr/>
        </p:nvSpPr>
        <p:spPr>
          <a:xfrm>
            <a:off x="571500" y="4944367"/>
            <a:ext cx="49530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データ戦略AIエージェント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 通話データから「真の意図(VOC)」を自動解析。商品開発サイクルを劇的に短縮。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3" name="Google Shape;27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6"/>
          <p:cNvSpPr/>
          <p:nvPr/>
        </p:nvSpPr>
        <p:spPr>
          <a:xfrm>
            <a:off x="571500" y="4163317"/>
            <a:ext cx="49530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5" name="Google Shape;27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24385"/>
            <a:ext cx="152400" cy="1782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506217"/>
            <a:ext cx="200025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6"/>
          <p:cNvSpPr txBox="1"/>
          <p:nvPr/>
        </p:nvSpPr>
        <p:spPr>
          <a:xfrm>
            <a:off x="571500" y="571500"/>
            <a:ext cx="5200800" cy="10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実例③④</a:t>
            </a:r>
            <a:endParaRPr b="1" sz="3200">
              <a:solidFill>
                <a:srgbClr val="22D3E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JR東日本 &amp; セブンイレブン</a:t>
            </a:r>
            <a:endParaRPr sz="1000"/>
          </a:p>
        </p:txBody>
      </p:sp>
      <p:sp>
        <p:nvSpPr>
          <p:cNvPr id="278" name="Google Shape;278;p26"/>
          <p:cNvSpPr txBox="1"/>
          <p:nvPr/>
        </p:nvSpPr>
        <p:spPr>
          <a:xfrm>
            <a:off x="571500" y="2176760"/>
            <a:ext cx="52006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JR東日本</a:t>
            </a:r>
            <a:endParaRPr/>
          </a:p>
        </p:txBody>
      </p:sp>
      <p:sp>
        <p:nvSpPr>
          <p:cNvPr id="279" name="Google Shape;279;p26"/>
          <p:cNvSpPr txBox="1"/>
          <p:nvPr/>
        </p:nvSpPr>
        <p:spPr>
          <a:xfrm>
            <a:off x="571500" y="2662535"/>
            <a:ext cx="49530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AI旅行コンシェルジュ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 希望を伝えるだけで最適なプランを生成。予約システムと連携し決済まで完了。</a:t>
            </a:r>
            <a:endParaRPr/>
          </a:p>
        </p:txBody>
      </p:sp>
      <p:sp>
        <p:nvSpPr>
          <p:cNvPr id="280" name="Google Shape;280;p26"/>
          <p:cNvSpPr txBox="1"/>
          <p:nvPr/>
        </p:nvSpPr>
        <p:spPr>
          <a:xfrm>
            <a:off x="571500" y="4458592"/>
            <a:ext cx="52006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00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818CF8"/>
                </a:solidFill>
                <a:latin typeface="Poppins"/>
                <a:ea typeface="Poppins"/>
                <a:cs typeface="Poppins"/>
                <a:sym typeface="Poppins"/>
              </a:rPr>
              <a:t>セブンイレブン</a:t>
            </a:r>
            <a:endParaRPr/>
          </a:p>
        </p:txBody>
      </p:sp>
      <p:sp>
        <p:nvSpPr>
          <p:cNvPr id="281" name="Google Shape;281;p26"/>
          <p:cNvSpPr txBox="1"/>
          <p:nvPr/>
        </p:nvSpPr>
        <p:spPr>
          <a:xfrm>
            <a:off x="571500" y="4944367"/>
            <a:ext cx="49530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AIライブラリー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 販促資料や商品解説をAIが作成。過去実績を元に最適なPOP・陳列を提案。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7"/>
          <p:cNvSpPr/>
          <p:nvPr/>
        </p:nvSpPr>
        <p:spPr>
          <a:xfrm>
            <a:off x="571500" y="1960215"/>
            <a:ext cx="11049000" cy="3867150"/>
          </a:xfrm>
          <a:prstGeom prst="roundRect">
            <a:avLst>
              <a:gd fmla="val 0" name="adj"/>
            </a:avLst>
          </a:prstGeom>
          <a:solidFill>
            <a:srgbClr val="1E293B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7" name="Google Shape;287;p27"/>
          <p:cNvGraphicFramePr/>
          <p:nvPr/>
        </p:nvGraphicFramePr>
        <p:xfrm>
          <a:off x="571500" y="19602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{C2BC14D2-C404-4F84-8C3D-8F9F12108490}</a:tableStyleId>
              </a:tblPr>
              <a:tblGrid>
                <a:gridCol w="4077600"/>
                <a:gridCol w="6971400"/>
              </a:tblGrid>
              <a:tr h="966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導入の課題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具体的な解決策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D3EE"/>
                    </a:solidFill>
                  </a:tcPr>
                </a:tc>
              </a:tr>
              <a:tr h="966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投資対効果(ROI)の可視化</a:t>
                      </a:r>
                      <a:b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b="0" i="0" lang="en-US" sz="1500" u="none" cap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</a:br>
                      <a:r>
                        <a:rPr b="0" i="0" lang="en-US" sz="1500" u="none" cap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     効果が見えにくい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スモールスタート</a:t>
                      </a:r>
                      <a:b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b="0" i="0" lang="en-US" sz="1500" u="none" cap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</a:br>
                      <a:r>
                        <a:rPr b="0" i="0" lang="en-US" sz="1500" u="none" cap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     特定の部署（例：CS対応）で検証し、段階的に拡大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66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リテラシー不足と抵抗感</a:t>
                      </a:r>
                      <a:b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b="0" i="0" lang="en-US" sz="1500" u="none" cap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</a:br>
                      <a:r>
                        <a:rPr b="0" i="0" lang="en-US" sz="1500" u="none" cap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     使いこなせるか不安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成功体験の共有</a:t>
                      </a:r>
                      <a:b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b="0" i="0" lang="en-US" sz="1500" u="none" cap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</a:br>
                      <a:r>
                        <a:rPr b="0" i="0" lang="en-US" sz="1500" u="none" cap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     社内で「効くプロンプト」を共有し、成功をモデル化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66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セキュリティと正確性</a:t>
                      </a:r>
                      <a:b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b="0" i="0" lang="en-US" sz="1500" u="none" cap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</a:br>
                      <a:r>
                        <a:rPr b="0" i="0" lang="en-US" sz="1500" u="none" cap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     情報漏洩やハルシネーション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セキュアな環境構築</a:t>
                      </a:r>
                      <a:b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b="0" i="0" lang="en-US" sz="1500" u="none" cap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</a:br>
                      <a:r>
                        <a:rPr b="0" i="0" lang="en-US" sz="1500" u="none" cap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     API利用やAzure OpenAI等、学習されない環境を選択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8" name="Google Shape;288;p27"/>
          <p:cNvSpPr/>
          <p:nvPr/>
        </p:nvSpPr>
        <p:spPr>
          <a:xfrm>
            <a:off x="571500" y="2755552"/>
            <a:ext cx="407759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7"/>
          <p:cNvSpPr/>
          <p:nvPr/>
        </p:nvSpPr>
        <p:spPr>
          <a:xfrm>
            <a:off x="4649092" y="2755552"/>
            <a:ext cx="697140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7"/>
          <p:cNvSpPr/>
          <p:nvPr/>
        </p:nvSpPr>
        <p:spPr>
          <a:xfrm>
            <a:off x="571500" y="3774727"/>
            <a:ext cx="407759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7"/>
          <p:cNvSpPr/>
          <p:nvPr/>
        </p:nvSpPr>
        <p:spPr>
          <a:xfrm>
            <a:off x="4649092" y="3774727"/>
            <a:ext cx="697140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7"/>
          <p:cNvSpPr/>
          <p:nvPr/>
        </p:nvSpPr>
        <p:spPr>
          <a:xfrm>
            <a:off x="571500" y="4793902"/>
            <a:ext cx="407759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7"/>
          <p:cNvSpPr/>
          <p:nvPr/>
        </p:nvSpPr>
        <p:spPr>
          <a:xfrm>
            <a:off x="4649092" y="4793902"/>
            <a:ext cx="697140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7"/>
          <p:cNvSpPr/>
          <p:nvPr/>
        </p:nvSpPr>
        <p:spPr>
          <a:xfrm>
            <a:off x="571500" y="5813077"/>
            <a:ext cx="407759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7"/>
          <p:cNvSpPr/>
          <p:nvPr/>
        </p:nvSpPr>
        <p:spPr>
          <a:xfrm>
            <a:off x="4649092" y="5813077"/>
            <a:ext cx="697140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7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AI導入の課題と解決策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1" name="Google Shape;30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445394"/>
            <a:ext cx="2616249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8"/>
          <p:cNvSpPr txBox="1"/>
          <p:nvPr/>
        </p:nvSpPr>
        <p:spPr>
          <a:xfrm>
            <a:off x="571500" y="2594520"/>
            <a:ext cx="523875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0" u="none" cap="none" strike="noStrike">
                <a:solidFill>
                  <a:srgbClr val="22D3EE"/>
                </a:solidFill>
                <a:latin typeface="Open Sans"/>
                <a:ea typeface="Open Sans"/>
                <a:cs typeface="Open Sans"/>
                <a:sym typeface="Open Sans"/>
              </a:rPr>
              <a:t>80%</a:t>
            </a:r>
            <a:endParaRPr/>
          </a:p>
        </p:txBody>
      </p:sp>
      <p:pic>
        <p:nvPicPr>
          <p:cNvPr descr="image.png" id="303" name="Google Shape;303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72250" y="2635894"/>
            <a:ext cx="2235249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8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AIは「80点」を秒速で作るパートナー</a:t>
            </a:r>
            <a:endParaRPr/>
          </a:p>
        </p:txBody>
      </p:sp>
      <p:sp>
        <p:nvSpPr>
          <p:cNvPr id="305" name="Google Shape;305;p28"/>
          <p:cNvSpPr txBox="1"/>
          <p:nvPr/>
        </p:nvSpPr>
        <p:spPr>
          <a:xfrm>
            <a:off x="571500" y="4575720"/>
            <a:ext cx="523875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818CF8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AIが担う下書きの割合</a:t>
            </a:r>
            <a:endParaRPr/>
          </a:p>
        </p:txBody>
      </p:sp>
      <p:sp>
        <p:nvSpPr>
          <p:cNvPr id="306" name="Google Shape;306;p28"/>
          <p:cNvSpPr txBox="1"/>
          <p:nvPr/>
        </p:nvSpPr>
        <p:spPr>
          <a:xfrm>
            <a:off x="6381750" y="1978669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AIの本質は「確率論」</a:t>
            </a:r>
            <a:endParaRPr/>
          </a:p>
        </p:txBody>
      </p:sp>
      <p:sp>
        <p:nvSpPr>
          <p:cNvPr id="307" name="Google Shape;307;p28"/>
          <p:cNvSpPr txBox="1"/>
          <p:nvPr/>
        </p:nvSpPr>
        <p:spPr>
          <a:xfrm>
            <a:off x="6381750" y="3378844"/>
            <a:ext cx="52387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「むかしむかしあるところに…」の次に「おじいさんとおばあさんが」が来る確率を予測しているだけです。</a:t>
            </a:r>
            <a:endParaRPr/>
          </a:p>
        </p:txBody>
      </p:sp>
      <p:sp>
        <p:nvSpPr>
          <p:cNvPr id="308" name="Google Shape;308;p28"/>
          <p:cNvSpPr txBox="1"/>
          <p:nvPr/>
        </p:nvSpPr>
        <p:spPr>
          <a:xfrm>
            <a:off x="6572250" y="4593877"/>
            <a:ext cx="50482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残りの20%：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 人間は「責任ある仕上げ」に専念することで、全体の生産性を劇的に向上させます。</a:t>
            </a:r>
            <a:endParaRPr/>
          </a:p>
        </p:txBody>
      </p:sp>
      <p:sp>
        <p:nvSpPr>
          <p:cNvPr id="309" name="Google Shape;309;p28"/>
          <p:cNvSpPr/>
          <p:nvPr/>
        </p:nvSpPr>
        <p:spPr>
          <a:xfrm>
            <a:off x="6381750" y="4593877"/>
            <a:ext cx="38100" cy="100548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4" name="Google Shape;31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1896814"/>
            <a:ext cx="5238750" cy="39939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91275" y="1906339"/>
            <a:ext cx="5219700" cy="39749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092076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7" name="Google Shape;317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000523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8" name="Google Shape;318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90897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9" name="Google Shape;319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817417"/>
            <a:ext cx="3048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9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助成金を活用したAI導入ステップ</a:t>
            </a:r>
            <a:endParaRPr/>
          </a:p>
        </p:txBody>
      </p:sp>
      <p:sp>
        <p:nvSpPr>
          <p:cNvPr id="321" name="Google Shape;321;p29"/>
          <p:cNvSpPr txBox="1"/>
          <p:nvPr/>
        </p:nvSpPr>
        <p:spPr>
          <a:xfrm>
            <a:off x="1047750" y="2049214"/>
            <a:ext cx="4762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国からの助成金対象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 格安でAIを導入するチャンスです。</a:t>
            </a:r>
            <a:endParaRPr/>
          </a:p>
        </p:txBody>
      </p:sp>
      <p:sp>
        <p:nvSpPr>
          <p:cNvPr id="322" name="Google Shape;322;p29"/>
          <p:cNvSpPr txBox="1"/>
          <p:nvPr/>
        </p:nvSpPr>
        <p:spPr>
          <a:xfrm>
            <a:off x="1047750" y="2957661"/>
            <a:ext cx="4762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PoCによる検証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 まずは概念検証から小規模に開始。</a:t>
            </a:r>
            <a:endParaRPr/>
          </a:p>
        </p:txBody>
      </p:sp>
      <p:sp>
        <p:nvSpPr>
          <p:cNvPr id="323" name="Google Shape;323;p29"/>
          <p:cNvSpPr txBox="1"/>
          <p:nvPr/>
        </p:nvSpPr>
        <p:spPr>
          <a:xfrm>
            <a:off x="1047750" y="3866108"/>
            <a:ext cx="4762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精度の確認と免責整理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 AIの責任範囲を明確化。</a:t>
            </a:r>
            <a:endParaRPr/>
          </a:p>
        </p:txBody>
      </p:sp>
      <p:sp>
        <p:nvSpPr>
          <p:cNvPr id="324" name="Google Shape;324;p29"/>
          <p:cNvSpPr txBox="1"/>
          <p:nvPr/>
        </p:nvSpPr>
        <p:spPr>
          <a:xfrm>
            <a:off x="1047750" y="4774555"/>
            <a:ext cx="4762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伴走支援型メンテナンス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 学習データの運用保守もシステム化。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9" name="Google Shape;32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0" y="-1905000"/>
            <a:ext cx="5715000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0" name="Google Shape;33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905000" y="3048000"/>
            <a:ext cx="5715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0"/>
          <p:cNvSpPr txBox="1"/>
          <p:nvPr/>
        </p:nvSpPr>
        <p:spPr>
          <a:xfrm>
            <a:off x="295200" y="2967290"/>
            <a:ext cx="1160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フリートーク・質問タイム</a:t>
            </a:r>
            <a:endParaRPr b="1" sz="6000">
              <a:solidFill>
                <a:srgbClr val="F8FAF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2" name="Google Shape;332;p30"/>
          <p:cNvSpPr txBox="1"/>
          <p:nvPr/>
        </p:nvSpPr>
        <p:spPr>
          <a:xfrm>
            <a:off x="225350" y="627315"/>
            <a:ext cx="11601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第</a:t>
            </a:r>
            <a:r>
              <a:rPr b="1" lang="en-US" sz="450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四</a:t>
            </a:r>
            <a:r>
              <a:rPr b="1" lang="en-US" sz="450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章</a:t>
            </a:r>
            <a:endParaRPr b="1" sz="4500">
              <a:solidFill>
                <a:srgbClr val="F8FAF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7" name="Google Shape;33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0" y="-1905000"/>
            <a:ext cx="5715000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8" name="Google Shape;338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360847"/>
            <a:ext cx="11049000" cy="2327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9" name="Google Shape;339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52912" y="5956994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0" name="Google Shape;340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48225" y="6501705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1"/>
          <p:cNvSpPr txBox="1"/>
          <p:nvPr/>
        </p:nvSpPr>
        <p:spPr>
          <a:xfrm>
            <a:off x="295275" y="465783"/>
            <a:ext cx="116016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AI時代のビジネスを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5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共に創りましょう</a:t>
            </a:r>
            <a:endParaRPr/>
          </a:p>
        </p:txBody>
      </p:sp>
      <p:sp>
        <p:nvSpPr>
          <p:cNvPr id="342" name="Google Shape;342;p31"/>
          <p:cNvSpPr txBox="1"/>
          <p:nvPr/>
        </p:nvSpPr>
        <p:spPr>
          <a:xfrm>
            <a:off x="571500" y="2466032"/>
            <a:ext cx="11049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ヒアリングから運用保守まで、一気通貫でサポートいたします。</a:t>
            </a:r>
            <a:endParaRPr/>
          </a:p>
        </p:txBody>
      </p:sp>
      <p:sp>
        <p:nvSpPr>
          <p:cNvPr id="343" name="Google Shape;343;p31"/>
          <p:cNvSpPr txBox="1"/>
          <p:nvPr/>
        </p:nvSpPr>
        <p:spPr>
          <a:xfrm>
            <a:off x="962025" y="4056172"/>
            <a:ext cx="1026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2D3EE"/>
                </a:solidFill>
                <a:latin typeface="Open Sans"/>
                <a:ea typeface="Open Sans"/>
                <a:cs typeface="Open Sans"/>
                <a:sym typeface="Open Sans"/>
              </a:rPr>
              <a:t>まずは無料でカジュアル相談を</a:t>
            </a:r>
            <a:endParaRPr/>
          </a:p>
        </p:txBody>
      </p:sp>
      <p:sp>
        <p:nvSpPr>
          <p:cNvPr id="344" name="Google Shape;344;p31"/>
          <p:cNvSpPr txBox="1"/>
          <p:nvPr/>
        </p:nvSpPr>
        <p:spPr>
          <a:xfrm>
            <a:off x="962025" y="4753283"/>
            <a:ext cx="10268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※ 助成金の活用についてもアドバイス可能です</a:t>
            </a:r>
            <a:endParaRPr/>
          </a:p>
        </p:txBody>
      </p:sp>
      <p:sp>
        <p:nvSpPr>
          <p:cNvPr id="345" name="Google Shape;345;p31"/>
          <p:cNvSpPr txBox="1"/>
          <p:nvPr/>
        </p:nvSpPr>
        <p:spPr>
          <a:xfrm>
            <a:off x="571500" y="6435030"/>
            <a:ext cx="11049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miyoshi.akira1997</a:t>
            </a:r>
            <a:r>
              <a:rPr b="0" i="0" lang="en-US" sz="1650" u="none" cap="none" strike="noStrike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@</a:t>
            </a:r>
            <a:r>
              <a:rPr lang="en-US" sz="1650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gmail</a:t>
            </a:r>
            <a:r>
              <a:rPr b="0" i="0" lang="en-US" sz="1650" u="none" cap="none" strike="noStrike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.com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0" name="Google Shape;35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749623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1" name="Google Shape;351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32484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2" name="Google Shape;352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616225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3" name="Google Shape;353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400996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4" name="Google Shape;354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5185767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5" name="Google Shape;355;p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9705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2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357" name="Google Shape;357;p32"/>
          <p:cNvSpPr/>
          <p:nvPr/>
        </p:nvSpPr>
        <p:spPr>
          <a:xfrm>
            <a:off x="571500" y="1501080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2"/>
          <p:cNvSpPr/>
          <p:nvPr/>
        </p:nvSpPr>
        <p:spPr>
          <a:xfrm>
            <a:off x="571500" y="2483941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32"/>
          <p:cNvSpPr/>
          <p:nvPr/>
        </p:nvSpPr>
        <p:spPr>
          <a:xfrm>
            <a:off x="571500" y="3466802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2"/>
          <p:cNvSpPr/>
          <p:nvPr/>
        </p:nvSpPr>
        <p:spPr>
          <a:xfrm>
            <a:off x="571500" y="4251573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32"/>
          <p:cNvSpPr/>
          <p:nvPr/>
        </p:nvSpPr>
        <p:spPr>
          <a:xfrm>
            <a:off x="571500" y="5036343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2"/>
          <p:cNvSpPr/>
          <p:nvPr/>
        </p:nvSpPr>
        <p:spPr>
          <a:xfrm>
            <a:off x="571500" y="247441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2"/>
          <p:cNvSpPr/>
          <p:nvPr/>
        </p:nvSpPr>
        <p:spPr>
          <a:xfrm>
            <a:off x="571500" y="247441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2"/>
          <p:cNvSpPr/>
          <p:nvPr/>
        </p:nvSpPr>
        <p:spPr>
          <a:xfrm>
            <a:off x="571500" y="345727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32"/>
          <p:cNvSpPr/>
          <p:nvPr/>
        </p:nvSpPr>
        <p:spPr>
          <a:xfrm>
            <a:off x="571500" y="345727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2"/>
          <p:cNvSpPr/>
          <p:nvPr/>
        </p:nvSpPr>
        <p:spPr>
          <a:xfrm>
            <a:off x="571500" y="424204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2"/>
          <p:cNvSpPr/>
          <p:nvPr/>
        </p:nvSpPr>
        <p:spPr>
          <a:xfrm>
            <a:off x="571500" y="424204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2"/>
          <p:cNvSpPr/>
          <p:nvPr/>
        </p:nvSpPr>
        <p:spPr>
          <a:xfrm>
            <a:off x="571500" y="502681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2"/>
          <p:cNvSpPr/>
          <p:nvPr/>
        </p:nvSpPr>
        <p:spPr>
          <a:xfrm>
            <a:off x="571500" y="502681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2"/>
          <p:cNvSpPr/>
          <p:nvPr/>
        </p:nvSpPr>
        <p:spPr>
          <a:xfrm>
            <a:off x="571500" y="581158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2"/>
          <p:cNvSpPr/>
          <p:nvPr/>
        </p:nvSpPr>
        <p:spPr>
          <a:xfrm>
            <a:off x="571500" y="581158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2"/>
          <p:cNvSpPr txBox="1"/>
          <p:nvPr/>
        </p:nvSpPr>
        <p:spPr>
          <a:xfrm>
            <a:off x="1666875" y="1643955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https://images.squarespace-cdn.com/content/v1/574512d92eeb81676262d877/1dc1f125-b7d6-4302-8d3b-b25c3dc2a546/Headshot-Photographer-London-UK-Ian-Kobylanki-292.jpg</a:t>
            </a:r>
            <a:endParaRPr/>
          </a:p>
        </p:txBody>
      </p:sp>
      <p:sp>
        <p:nvSpPr>
          <p:cNvPr id="373" name="Google Shape;373;p32"/>
          <p:cNvSpPr txBox="1"/>
          <p:nvPr/>
        </p:nvSpPr>
        <p:spPr>
          <a:xfrm>
            <a:off x="1666875" y="208776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www.koby.photography</a:t>
            </a:r>
            <a:endParaRPr/>
          </a:p>
        </p:txBody>
      </p:sp>
      <p:sp>
        <p:nvSpPr>
          <p:cNvPr id="374" name="Google Shape;374;p32"/>
          <p:cNvSpPr txBox="1"/>
          <p:nvPr/>
        </p:nvSpPr>
        <p:spPr>
          <a:xfrm>
            <a:off x="1666875" y="2626816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https://png.pngtree.com/thumb_back/fw800/background/20250226/pngtree-futuristic-technology-interface-holographic-display-ai-network-visualization-glowing-nodes-and-image_16979725.jpg</a:t>
            </a:r>
            <a:endParaRPr/>
          </a:p>
        </p:txBody>
      </p:sp>
      <p:sp>
        <p:nvSpPr>
          <p:cNvPr id="375" name="Google Shape;375;p32"/>
          <p:cNvSpPr txBox="1"/>
          <p:nvPr/>
        </p:nvSpPr>
        <p:spPr>
          <a:xfrm>
            <a:off x="1666875" y="307062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pngtree.com</a:t>
            </a:r>
            <a:endParaRPr/>
          </a:p>
        </p:txBody>
      </p:sp>
      <p:sp>
        <p:nvSpPr>
          <p:cNvPr id="376" name="Google Shape;376;p32"/>
          <p:cNvSpPr txBox="1"/>
          <p:nvPr/>
        </p:nvSpPr>
        <p:spPr>
          <a:xfrm>
            <a:off x="1666875" y="360967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https://www.slashgear.com/img/gallery/10-futuristic-concepts-that-are-already-shaping-smart-cities/the-internet-of-things-iot-1731443641.jpg</a:t>
            </a:r>
            <a:endParaRPr/>
          </a:p>
        </p:txBody>
      </p:sp>
      <p:sp>
        <p:nvSpPr>
          <p:cNvPr id="377" name="Google Shape;377;p32"/>
          <p:cNvSpPr txBox="1"/>
          <p:nvPr/>
        </p:nvSpPr>
        <p:spPr>
          <a:xfrm>
            <a:off x="1666875" y="385539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www.slashgear.com</a:t>
            </a:r>
            <a:endParaRPr/>
          </a:p>
        </p:txBody>
      </p:sp>
      <p:sp>
        <p:nvSpPr>
          <p:cNvPr id="378" name="Google Shape;378;p32"/>
          <p:cNvSpPr txBox="1"/>
          <p:nvPr/>
        </p:nvSpPr>
        <p:spPr>
          <a:xfrm>
            <a:off x="1666875" y="4394448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https://cdn.dribbble.com/userupload/42932274/file/still-3d8dccae9ba7fd29c9e665b4abc92cec.png?format=webp&amp;resize=400x300&amp;vertical=center</a:t>
            </a:r>
            <a:endParaRPr/>
          </a:p>
        </p:txBody>
      </p:sp>
      <p:sp>
        <p:nvSpPr>
          <p:cNvPr id="379" name="Google Shape;379;p32"/>
          <p:cNvSpPr txBox="1"/>
          <p:nvPr/>
        </p:nvSpPr>
        <p:spPr>
          <a:xfrm>
            <a:off x="1666875" y="464016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dribbble.com</a:t>
            </a:r>
            <a:endParaRPr/>
          </a:p>
        </p:txBody>
      </p:sp>
      <p:sp>
        <p:nvSpPr>
          <p:cNvPr id="380" name="Google Shape;380;p32"/>
          <p:cNvSpPr txBox="1"/>
          <p:nvPr/>
        </p:nvSpPr>
        <p:spPr>
          <a:xfrm>
            <a:off x="1666875" y="5179218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https://cdn.dribbble.com/userupload/44195495/file/original-107b10cb661a49eab9256e9a3193ffc0.jpg?crop=0x0-1600x1200&amp;format=webp&amp;resize=400x300&amp;vertical=center</a:t>
            </a:r>
            <a:endParaRPr/>
          </a:p>
        </p:txBody>
      </p:sp>
      <p:sp>
        <p:nvSpPr>
          <p:cNvPr id="381" name="Google Shape;381;p32"/>
          <p:cNvSpPr txBox="1"/>
          <p:nvPr/>
        </p:nvSpPr>
        <p:spPr>
          <a:xfrm>
            <a:off x="1666875" y="542493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dribbble.com</a:t>
            </a:r>
            <a:endParaRPr/>
          </a:p>
        </p:txBody>
      </p:sp>
      <p:sp>
        <p:nvSpPr>
          <p:cNvPr id="382" name="Google Shape;382;p32"/>
          <p:cNvSpPr txBox="1"/>
          <p:nvPr/>
        </p:nvSpPr>
        <p:spPr>
          <a:xfrm>
            <a:off x="1666875" y="5963989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https://img.freepik.com/premium-photo/glowing-digital-lock-symbolizing-cybersecurity-data-protection-futuristic-technology-concept_1335075-30055.jpg</a:t>
            </a:r>
            <a:endParaRPr/>
          </a:p>
        </p:txBody>
      </p:sp>
      <p:sp>
        <p:nvSpPr>
          <p:cNvPr id="383" name="Google Shape;383;p32"/>
          <p:cNvSpPr txBox="1"/>
          <p:nvPr/>
        </p:nvSpPr>
        <p:spPr>
          <a:xfrm>
            <a:off x="1666875" y="620970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www.freepik.com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